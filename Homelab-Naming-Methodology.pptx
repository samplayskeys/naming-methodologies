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sbAixwxbScTHKKBRWXKPaaMdT9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 slide (quick)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Statement slide (quick)</a:t>
            </a:r>
            <a:endParaRPr/>
          </a:p>
        </p:txBody>
      </p:sp>
      <p:sp>
        <p:nvSpPr>
          <p:cNvPr id="40" name="Google Shape;4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Statement slide (quick)</a:t>
            </a:r>
            <a:endParaRPr/>
          </a:p>
        </p:txBody>
      </p:sp>
      <p:sp>
        <p:nvSpPr>
          <p:cNvPr id="71" name="Google Shape;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Statement slide (quick)</a:t>
            </a:r>
            <a:endParaRPr/>
          </a:p>
        </p:txBody>
      </p:sp>
      <p:sp>
        <p:nvSpPr>
          <p:cNvPr id="81" name="Google Shape;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 Slide (Quick)</a:t>
            </a:r>
            <a:endParaRPr/>
          </a:p>
        </p:txBody>
      </p:sp>
      <p:sp>
        <p:nvSpPr>
          <p:cNvPr id="120" name="Google Shape;12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/>
              <a:t>Statement Slide (Quick)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 Slide (Quick)</a:t>
            </a:r>
            <a:endParaRPr/>
          </a:p>
        </p:txBody>
      </p:sp>
      <p:sp>
        <p:nvSpPr>
          <p:cNvPr id="138" name="Google Shape;13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 Slide (Quick)</a:t>
            </a:r>
            <a:endParaRPr/>
          </a:p>
        </p:txBody>
      </p:sp>
      <p:sp>
        <p:nvSpPr>
          <p:cNvPr id="161" name="Google Shape;16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Statement Slide (Quick)</a:t>
            </a:r>
            <a:endParaRPr/>
          </a:p>
        </p:txBody>
      </p:sp>
      <p:sp>
        <p:nvSpPr>
          <p:cNvPr id="180" name="Google Shape;18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8bb9c9643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b8bb9c9643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b8bb9c9643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2"/>
          <p:cNvGrpSpPr/>
          <p:nvPr/>
        </p:nvGrpSpPr>
        <p:grpSpPr>
          <a:xfrm>
            <a:off x="7777027" y="4741927"/>
            <a:ext cx="1235700" cy="285900"/>
            <a:chOff x="7777027" y="4741927"/>
            <a:chExt cx="1235700" cy="285900"/>
          </a:xfrm>
        </p:grpSpPr>
        <p:sp>
          <p:nvSpPr>
            <p:cNvPr id="11" name="Google Shape;11;p22"/>
            <p:cNvSpPr/>
            <p:nvPr/>
          </p:nvSpPr>
          <p:spPr>
            <a:xfrm>
              <a:off x="7777027" y="4741927"/>
              <a:ext cx="1235700" cy="2859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" name="Google Shape;12;p22" title="Logo_Tailscale Community_BLK.png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7814644" y="4754720"/>
              <a:ext cx="1129576" cy="26030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mobs-bd.org/a-proper-server-device-naming-convention-best-practices-standard-naming-conventions-and-framework-requirements/" TargetMode="External"/><Relationship Id="rId4" Type="http://schemas.openxmlformats.org/officeDocument/2006/relationships/hyperlink" Target="https://www.uaa.alaska.edu/about/administrative-services/departments/information-technology-services/getting-help/knowledge-base/device-naming-conventions.cshtml" TargetMode="External"/><Relationship Id="rId5" Type="http://schemas.openxmlformats.org/officeDocument/2006/relationships/hyperlink" Target="https://homelab.gdn/blog/naming-things-is-hard/" TargetMode="External"/><Relationship Id="rId6" Type="http://schemas.openxmlformats.org/officeDocument/2006/relationships/hyperlink" Target="https://www.reddit.com/r/homelab/comments/wpxvo9/whats_your_home_lab_server_naming_schem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/>
          <p:nvPr/>
        </p:nvSpPr>
        <p:spPr>
          <a:xfrm>
            <a:off x="1598548" y="1383025"/>
            <a:ext cx="59469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Naming Ideology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759818" y="2510730"/>
            <a:ext cx="5624364" cy="3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Why your computer names matter more than you think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256675" y="3333599"/>
            <a:ext cx="46305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lang="en-US" sz="1350">
                <a:solidFill>
                  <a:srgbClr val="94A3B8"/>
                </a:solidFill>
              </a:rPr>
              <a:t>n</a:t>
            </a: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exploration of psychology, flexibility, and choice.</a:t>
            </a:r>
            <a:b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1350">
                <a:solidFill>
                  <a:srgbClr val="94A3B8"/>
                </a:solidFill>
              </a:rPr>
              <a:t>Presented by Sam Fleming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609600" y="1154267"/>
            <a:ext cx="79248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 name is a story you tell yourself.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2789965" y="3021211"/>
            <a:ext cx="356407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Names are psychological anchors.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2122329" y="3364111"/>
            <a:ext cx="489919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They shape how you interact with every device.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"/>
          <p:cNvSpPr/>
          <p:nvPr/>
        </p:nvSpPr>
        <p:spPr>
          <a:xfrm>
            <a:off x="609600" y="609600"/>
            <a:ext cx="8083296" cy="46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359"/>
              <a:buFont typeface="Arial"/>
              <a:buNone/>
            </a:pPr>
            <a:r>
              <a:rPr b="1" i="0" lang="en-US" sz="335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Why Names Matter</a:t>
            </a:r>
            <a:endParaRPr b="0" i="0" sz="33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609600" y="1536055"/>
            <a:ext cx="79248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Creativity and engagement</a:t>
            </a: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depend on </a:t>
            </a:r>
            <a:r>
              <a:rPr lang="en-US" sz="1440">
                <a:solidFill>
                  <a:srgbClr val="CBD5E1"/>
                </a:solidFill>
              </a:rPr>
              <a:t>interactions.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Project longevity</a:t>
            </a: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is driven by </a:t>
            </a:r>
            <a:r>
              <a:rPr lang="en-US" sz="1440">
                <a:solidFill>
                  <a:srgbClr val="CBD5E1"/>
                </a:solidFill>
              </a:rPr>
              <a:t>engagement.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Intentional choice</a:t>
            </a: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matters more than the </a:t>
            </a:r>
            <a:r>
              <a:rPr lang="en-US" sz="1440">
                <a:solidFill>
                  <a:srgbClr val="CBD5E1"/>
                </a:solidFill>
              </a:rPr>
              <a:t>choice</a:t>
            </a: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itself.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1736592" y="457498"/>
            <a:ext cx="5670816" cy="6399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Arial"/>
              <a:buNone/>
            </a:pPr>
            <a:r>
              <a:rPr b="1" i="0" lang="en-US" sz="3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Naming Spectrum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464622" y="1554726"/>
            <a:ext cx="22146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60"/>
              <a:buFont typeface="Arial"/>
              <a:buNone/>
            </a:pPr>
            <a:r>
              <a:rPr lang="en-US" sz="1560">
                <a:solidFill>
                  <a:srgbClr val="CBD5E1"/>
                </a:solidFill>
              </a:rPr>
              <a:t>Enterprise</a:t>
            </a:r>
            <a:r>
              <a:rPr b="0" i="0" lang="en-US" sz="156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Nam</a:t>
            </a:r>
            <a:r>
              <a:rPr lang="en-US" sz="1560">
                <a:solidFill>
                  <a:srgbClr val="CBD5E1"/>
                </a:solidFill>
              </a:rPr>
              <a:t>ing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13707" y="1851720"/>
            <a:ext cx="1165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387752" y="2499450"/>
            <a:ext cx="23685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60"/>
              <a:buFont typeface="Arial"/>
              <a:buNone/>
            </a:pPr>
            <a:r>
              <a:rPr b="0" i="0" lang="en-US" sz="156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Physical </a:t>
            </a:r>
            <a:r>
              <a:rPr lang="en-US" sz="1560">
                <a:solidFill>
                  <a:srgbClr val="CBD5E1"/>
                </a:solidFill>
              </a:rPr>
              <a:t>Descriptions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13707" y="2796480"/>
            <a:ext cx="1165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3869905" y="3444180"/>
            <a:ext cx="1404042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60"/>
              <a:buFont typeface="Arial"/>
              <a:buNone/>
            </a:pPr>
            <a:r>
              <a:rPr b="0" i="0" lang="en-US" sz="156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Purpose-Driven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4513707" y="3741241"/>
            <a:ext cx="11658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3703374" y="4388941"/>
            <a:ext cx="1737253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60"/>
              <a:buFont typeface="Arial"/>
              <a:buNone/>
            </a:pPr>
            <a:r>
              <a:rPr b="0" i="0" lang="en-US" sz="156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Creative &amp; Themed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"/>
          <p:cNvSpPr/>
          <p:nvPr/>
        </p:nvSpPr>
        <p:spPr>
          <a:xfrm>
            <a:off x="609600" y="609600"/>
            <a:ext cx="8083296" cy="46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359"/>
              <a:buFont typeface="Arial"/>
              <a:buNone/>
            </a:pPr>
            <a:r>
              <a:rPr b="1" i="0" lang="en-US" sz="335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Enterprise Naming</a:t>
            </a:r>
            <a:endParaRPr b="0" i="0" sz="33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530400" y="2047315"/>
            <a:ext cx="8083200" cy="13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rgbClr val="8291A9"/>
                </a:solidFill>
              </a:rPr>
              <a:t>✓ </a:t>
            </a:r>
            <a:r>
              <a:rPr lang="en-US" sz="1350">
                <a:solidFill>
                  <a:srgbClr val="94A3B8"/>
                </a:solidFill>
              </a:rPr>
              <a:t>Known for:</a:t>
            </a:r>
            <a:endParaRPr sz="1350">
              <a:solidFill>
                <a:srgbClr val="94A3B8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Maximum information density</a:t>
            </a:r>
            <a:endParaRPr sz="1350">
              <a:solidFill>
                <a:srgbClr val="94A3B8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Highly rigid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1347000" y="1367775"/>
            <a:ext cx="645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</a:rPr>
              <a:t>AVDHost-USEast-Test-02</a:t>
            </a:r>
            <a:r>
              <a:rPr lang="en-US" sz="1800">
                <a:solidFill>
                  <a:srgbClr val="CBD5E1"/>
                </a:solidFill>
              </a:rPr>
              <a:t> • </a:t>
            </a:r>
            <a:r>
              <a:rPr lang="en-US" sz="1800">
                <a:solidFill>
                  <a:srgbClr val="CBD5E1"/>
                </a:solidFill>
              </a:rPr>
              <a:t>DLRLS-Prod-03</a:t>
            </a:r>
            <a:r>
              <a:rPr lang="en-US" sz="1800">
                <a:solidFill>
                  <a:srgbClr val="CBD5E1"/>
                </a:solidFill>
              </a:rPr>
              <a:t> • </a:t>
            </a:r>
            <a:r>
              <a:rPr lang="en-US" sz="1800">
                <a:solidFill>
                  <a:srgbClr val="CBD5E1"/>
                </a:solidFill>
              </a:rPr>
              <a:t>HLB-LRMLN-02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/>
          <p:nvPr/>
        </p:nvSpPr>
        <p:spPr>
          <a:xfrm>
            <a:off x="609600" y="609600"/>
            <a:ext cx="8083296" cy="46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359"/>
              <a:buFont typeface="Arial"/>
              <a:buNone/>
            </a:pPr>
            <a:r>
              <a:rPr b="1" i="0" lang="en-US" sz="335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Enterprise: Excellent For Teams</a:t>
            </a:r>
            <a:endParaRPr b="0" i="0" sz="33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609600" y="1383754"/>
            <a:ext cx="36843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560"/>
              <a:buFont typeface="Arial"/>
              <a:buNone/>
            </a:pPr>
            <a:r>
              <a:rPr b="1" i="0" lang="en-US" sz="1560" u="none" cap="none" strike="noStrike">
                <a:solidFill>
                  <a:srgbClr val="4ADE80"/>
                </a:solidFill>
                <a:latin typeface="Arial"/>
                <a:ea typeface="Arial"/>
                <a:cs typeface="Arial"/>
                <a:sym typeface="Arial"/>
              </a:rPr>
              <a:t>Strengths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609600" y="1830150"/>
            <a:ext cx="36843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2425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Information density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Team clarity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Scalability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Compliance ready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503025" y="1383750"/>
            <a:ext cx="2972400" cy="2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560"/>
              <a:buFont typeface="Arial"/>
              <a:buNone/>
            </a:pPr>
            <a:r>
              <a:rPr b="1" i="0" lang="en-US" sz="156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Trade-offs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4503025" y="1830150"/>
            <a:ext cx="33951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52425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Complexity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Rigidity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Overhead for one person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2425" lvl="0" marL="3429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Char char="•"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Less flexibility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/>
          <p:nvPr/>
        </p:nvSpPr>
        <p:spPr>
          <a:xfrm>
            <a:off x="1762649" y="1245325"/>
            <a:ext cx="5618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F87171"/>
                </a:solidFill>
              </a:rPr>
              <a:t>OC-</a:t>
            </a:r>
            <a:r>
              <a:rPr b="1" i="0" lang="en-US" sz="4200" u="none" cap="none" strike="noStrike">
                <a:solidFill>
                  <a:srgbClr val="F87171"/>
                </a:solidFill>
                <a:latin typeface="Arial"/>
                <a:ea typeface="Arial"/>
                <a:cs typeface="Arial"/>
                <a:sym typeface="Arial"/>
              </a:rPr>
              <a:t>Truenas-Node-216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2773114" y="2167830"/>
            <a:ext cx="359777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Built years ago with a rigid naming scheme.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3213500" y="2442121"/>
            <a:ext cx="2717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Function changed. Role evolved.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3016659" y="3666386"/>
            <a:ext cx="3110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Renaming breaks automation.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537224" y="3065700"/>
            <a:ext cx="60696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Enterprise is brilliant </a:t>
            </a:r>
            <a:r>
              <a:rPr b="1" i="0" lang="en-US" sz="13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b="1" i="0" lang="en-US" sz="13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but not flexible for solo homelabs.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"/>
          <p:cNvSpPr/>
          <p:nvPr/>
        </p:nvSpPr>
        <p:spPr>
          <a:xfrm>
            <a:off x="1403629" y="1868851"/>
            <a:ext cx="6336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You have options.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3740719" y="2858311"/>
            <a:ext cx="1662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60"/>
              <a:buFont typeface="Arial"/>
              <a:buNone/>
            </a:pPr>
            <a:r>
              <a:rPr b="0" i="0" lang="en-US" sz="156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All valid. All viable.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9"/>
          <p:cNvSpPr/>
          <p:nvPr/>
        </p:nvSpPr>
        <p:spPr>
          <a:xfrm>
            <a:off x="609600" y="609600"/>
            <a:ext cx="8083296" cy="46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359"/>
              <a:buFont typeface="Arial"/>
              <a:buNone/>
            </a:pPr>
            <a:r>
              <a:rPr b="1" i="0" lang="en-US" sz="335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Default Names</a:t>
            </a:r>
            <a:endParaRPr b="0" i="0" sz="33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609600" y="1383655"/>
            <a:ext cx="8083296" cy="3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Sam's iPhone • Desktop-723J378 • server1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609600" y="2054120"/>
            <a:ext cx="8083200" cy="16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✓ Best for: </a:t>
            </a:r>
            <a:endParaRPr b="0" i="0" sz="135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Temporary devices. </a:t>
            </a:r>
            <a:endParaRPr b="0" i="0" sz="135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Tests. </a:t>
            </a:r>
            <a:endParaRPr b="0" i="0" sz="135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Ephemeral infrastructure.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/>
          <p:nvPr/>
        </p:nvSpPr>
        <p:spPr>
          <a:xfrm>
            <a:off x="609600" y="609600"/>
            <a:ext cx="8083296" cy="46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359"/>
              <a:buFont typeface="Arial"/>
              <a:buNone/>
            </a:pPr>
            <a:r>
              <a:rPr b="1" i="0" lang="en-US" sz="335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Physical Descript</a:t>
            </a:r>
            <a:r>
              <a:rPr b="1" lang="en-US" sz="3359">
                <a:solidFill>
                  <a:srgbClr val="38BDF8"/>
                </a:solidFill>
              </a:rPr>
              <a:t>ions</a:t>
            </a:r>
            <a:endParaRPr b="0" i="0" sz="33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609600" y="1383655"/>
            <a:ext cx="8083296" cy="3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Thinkstation • RPi1 • Top-Server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0"/>
          <p:cNvSpPr/>
          <p:nvPr/>
        </p:nvSpPr>
        <p:spPr>
          <a:xfrm>
            <a:off x="609600" y="2054120"/>
            <a:ext cx="8083200" cy="16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✓ Best for: </a:t>
            </a:r>
            <a:endParaRPr b="0" i="0" sz="135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Hardware-focused homelabs. </a:t>
            </a:r>
            <a:endParaRPr b="0" i="0" sz="135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Inventory clarity.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/>
          <p:nvPr/>
        </p:nvSpPr>
        <p:spPr>
          <a:xfrm>
            <a:off x="609600" y="609600"/>
            <a:ext cx="8083296" cy="46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359"/>
              <a:buFont typeface="Arial"/>
              <a:buNone/>
            </a:pPr>
            <a:r>
              <a:rPr b="1" i="0" lang="en-US" sz="335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Purpose-Driven Naming</a:t>
            </a:r>
            <a:endParaRPr b="0" i="0" sz="33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609600" y="1383655"/>
            <a:ext cx="8083296" cy="3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Backup1 • DockerHost1 • Jump-Node-517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1"/>
          <p:cNvSpPr/>
          <p:nvPr/>
        </p:nvSpPr>
        <p:spPr>
          <a:xfrm>
            <a:off x="609600" y="2054120"/>
            <a:ext cx="8083200" cy="16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✓ Best for: </a:t>
            </a:r>
            <a:endParaRPr b="0" i="0" sz="135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Scaling. </a:t>
            </a:r>
            <a:endParaRPr b="0" i="0" sz="135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Automation. </a:t>
            </a:r>
            <a:endParaRPr b="0" i="0" sz="135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Multi-machine deployments.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2"/>
          <p:cNvSpPr/>
          <p:nvPr/>
        </p:nvSpPr>
        <p:spPr>
          <a:xfrm>
            <a:off x="609600" y="609600"/>
            <a:ext cx="8083296" cy="46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359"/>
              <a:buFont typeface="Arial"/>
              <a:buNone/>
            </a:pPr>
            <a:r>
              <a:rPr b="1" i="0" lang="en-US" sz="335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Creative Naming</a:t>
            </a:r>
            <a:endParaRPr b="0" i="0" sz="33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/>
          <p:nvPr/>
        </p:nvSpPr>
        <p:spPr>
          <a:xfrm>
            <a:off x="609600" y="1383655"/>
            <a:ext cx="8083296" cy="365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Neptune • Baryonix-Butterfly • TheOG • Lemon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609650" y="2054120"/>
            <a:ext cx="8083200" cy="15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✓ Best for: </a:t>
            </a:r>
            <a:endParaRPr b="0" i="0" sz="135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Personality. </a:t>
            </a:r>
            <a:endParaRPr b="0" i="0" sz="135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Engagement. </a:t>
            </a:r>
            <a:endParaRPr b="0" i="0" sz="1350" u="none" cap="none" strike="noStrike">
              <a:solidFill>
                <a:srgbClr val="94A3B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Long-term passion projects.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/>
          <p:nvPr/>
        </p:nvSpPr>
        <p:spPr>
          <a:xfrm>
            <a:off x="1489909" y="925941"/>
            <a:ext cx="6164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Psychology is Clear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685221" y="2632621"/>
            <a:ext cx="377340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Naming increases </a:t>
            </a:r>
            <a:r>
              <a:rPr b="1" i="0" lang="en-US" sz="144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psychological ownership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2622980" y="2906911"/>
            <a:ext cx="3898041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Personal names create </a:t>
            </a:r>
            <a:r>
              <a:rPr b="1" i="0" lang="en-US" sz="144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emotional attachment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2757934" y="3181201"/>
            <a:ext cx="362813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Attachment drives </a:t>
            </a:r>
            <a:r>
              <a:rPr b="1" i="0" lang="en-US" sz="144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continued maintenance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"/>
          <p:cNvSpPr/>
          <p:nvPr/>
        </p:nvSpPr>
        <p:spPr>
          <a:xfrm>
            <a:off x="1427216" y="1434031"/>
            <a:ext cx="62895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Engagement Pattern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3249934" y="2491680"/>
            <a:ext cx="2643982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Personality drives maintenance.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3213501" y="2765971"/>
            <a:ext cx="271684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Engagement extends project life.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1355750" y="3335975"/>
            <a:ext cx="6432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i="1" lang="en-US" sz="1800" u="none" cap="none" strike="noStrike">
                <a:solidFill>
                  <a:srgbClr val="8291A9"/>
                </a:solidFill>
              </a:rPr>
              <a:t>If you </a:t>
            </a:r>
            <a:r>
              <a:rPr i="1" lang="en-US" sz="1800">
                <a:solidFill>
                  <a:srgbClr val="8291A9"/>
                </a:solidFill>
              </a:rPr>
              <a:t>struggle</a:t>
            </a:r>
            <a:r>
              <a:rPr i="1" lang="en-US" sz="1800" u="none" cap="none" strike="noStrike">
                <a:solidFill>
                  <a:srgbClr val="8291A9"/>
                </a:solidFill>
              </a:rPr>
              <a:t> </a:t>
            </a:r>
            <a:r>
              <a:rPr i="1" lang="en-US" sz="1800">
                <a:solidFill>
                  <a:srgbClr val="8291A9"/>
                </a:solidFill>
              </a:rPr>
              <a:t>with</a:t>
            </a:r>
            <a:r>
              <a:rPr i="1" lang="en-US" sz="1800" u="none" cap="none" strike="noStrike">
                <a:solidFill>
                  <a:srgbClr val="8291A9"/>
                </a:solidFill>
              </a:rPr>
              <a:t> longevity, personality matters.</a:t>
            </a:r>
            <a:endParaRPr i="0" sz="1800" u="none" cap="none" strike="noStrike">
              <a:solidFill>
                <a:srgbClr val="8291A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/>
          <p:nvPr/>
        </p:nvSpPr>
        <p:spPr>
          <a:xfrm>
            <a:off x="619024" y="1748875"/>
            <a:ext cx="7905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Use Naming Schemes/Groups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2646966" y="2846040"/>
            <a:ext cx="3849919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Different names for different infrastructure tiers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3043176" y="3120330"/>
            <a:ext cx="3057498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40"/>
              <a:buFont typeface="Arial"/>
              <a:buNone/>
            </a:pPr>
            <a:r>
              <a:rPr b="0" i="0" lang="en-US" sz="14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Organized by </a:t>
            </a:r>
            <a:r>
              <a:rPr b="1" i="0" lang="en-US" sz="144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location, not function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"/>
          <p:cNvSpPr/>
          <p:nvPr/>
        </p:nvSpPr>
        <p:spPr>
          <a:xfrm>
            <a:off x="609600" y="609600"/>
            <a:ext cx="8083296" cy="46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359"/>
              <a:buFont typeface="Arial"/>
              <a:buNone/>
            </a:pPr>
            <a:r>
              <a:rPr b="1" i="0" lang="en-US" sz="335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Real Example: </a:t>
            </a:r>
            <a:r>
              <a:rPr b="1" lang="en-US" sz="3359">
                <a:solidFill>
                  <a:srgbClr val="38BDF8"/>
                </a:solidFill>
              </a:rPr>
              <a:t>Sam’s</a:t>
            </a:r>
            <a:r>
              <a:rPr b="1" i="0" lang="en-US" sz="335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Homelab</a:t>
            </a:r>
            <a:endParaRPr b="0" i="0" sz="33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609600" y="1536055"/>
            <a:ext cx="8083296" cy="292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40"/>
              <a:buFont typeface="Arial"/>
              <a:buNone/>
            </a:pPr>
            <a:r>
              <a:rPr b="1" lang="en-US" sz="1440">
                <a:solidFill>
                  <a:srgbClr val="38BDF8"/>
                </a:solidFill>
              </a:rPr>
              <a:t>- </a:t>
            </a:r>
            <a:r>
              <a:rPr b="1" i="0" lang="en-US" sz="144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Azure &amp; Google Cloud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09600" y="1904851"/>
            <a:ext cx="80832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Canary • CommonLoon • Raven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609600" y="2209651"/>
            <a:ext cx="808329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Bird themed. </a:t>
            </a:r>
            <a:r>
              <a:rPr lang="en-US" sz="1200">
                <a:solidFill>
                  <a:srgbClr val="94A3B8"/>
                </a:solidFill>
              </a:rPr>
              <a:t>Interesting</a:t>
            </a: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 Personality driven.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09600" y="2758232"/>
            <a:ext cx="8083296" cy="292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40"/>
              <a:buFont typeface="Arial"/>
              <a:buNone/>
            </a:pPr>
            <a:r>
              <a:rPr b="1" lang="en-US" sz="1440">
                <a:solidFill>
                  <a:srgbClr val="38BDF8"/>
                </a:solidFill>
              </a:rPr>
              <a:t>- </a:t>
            </a:r>
            <a:r>
              <a:rPr b="1" i="0" lang="en-US" sz="144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On-Site Hardware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09600" y="3127028"/>
            <a:ext cx="808329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WinMini • ThinkMini</a:t>
            </a:r>
            <a:r>
              <a:rPr lang="en-US" sz="1500">
                <a:solidFill>
                  <a:srgbClr val="CBD5E1"/>
                </a:solidFill>
              </a:rPr>
              <a:t> • ThinkMini2</a:t>
            </a: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• OpenMini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09600" y="3431828"/>
            <a:ext cx="808329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Physical descriptors + p</a:t>
            </a:r>
            <a:r>
              <a:rPr lang="en-US" sz="1200">
                <a:solidFill>
                  <a:srgbClr val="94A3B8"/>
                </a:solidFill>
              </a:rPr>
              <a:t>urpose-driven</a:t>
            </a: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 The hybrid approach.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09650" y="3980407"/>
            <a:ext cx="8083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440"/>
              <a:buFont typeface="Arial"/>
              <a:buNone/>
            </a:pPr>
            <a:r>
              <a:rPr b="1" lang="en-US" sz="1440">
                <a:solidFill>
                  <a:srgbClr val="38BDF8"/>
                </a:solidFill>
              </a:rPr>
              <a:t>- </a:t>
            </a:r>
            <a:r>
              <a:rPr b="1" lang="en-US" sz="1440">
                <a:solidFill>
                  <a:srgbClr val="38BDF8"/>
                </a:solidFill>
              </a:rPr>
              <a:t>Bulk Storage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609650" y="4349203"/>
            <a:ext cx="8083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CBD5E1"/>
                </a:solidFill>
              </a:rPr>
              <a:t>MeadowNAS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• </a:t>
            </a:r>
            <a:r>
              <a:rPr lang="en-US" sz="1500">
                <a:solidFill>
                  <a:srgbClr val="CBD5E1"/>
                </a:solidFill>
              </a:rPr>
              <a:t>TrueNAS</a:t>
            </a:r>
            <a:r>
              <a:rPr lang="en-US" sz="1500">
                <a:solidFill>
                  <a:srgbClr val="CBD5E1"/>
                </a:solidFill>
              </a:rPr>
              <a:t>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500">
                <a:solidFill>
                  <a:srgbClr val="CBD5E1"/>
                </a:solidFill>
              </a:rPr>
              <a:t>MomsNAS</a:t>
            </a: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• OhShit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609650" y="4654003"/>
            <a:ext cx="8083200" cy="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94A3B8"/>
                </a:solidFill>
              </a:rPr>
              <a:t>Purpose driven</a:t>
            </a: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 + </a:t>
            </a:r>
            <a:r>
              <a:rPr lang="en-US" sz="1200">
                <a:solidFill>
                  <a:srgbClr val="94A3B8"/>
                </a:solidFill>
              </a:rPr>
              <a:t>humor</a:t>
            </a: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1200">
                <a:solidFill>
                  <a:srgbClr val="94A3B8"/>
                </a:solidFill>
              </a:rPr>
              <a:t>Memorable and effective</a:t>
            </a:r>
            <a:r>
              <a:rPr b="0" i="0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/>
          <p:nvPr/>
        </p:nvSpPr>
        <p:spPr>
          <a:xfrm>
            <a:off x="1333588" y="1282225"/>
            <a:ext cx="32202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Device Identity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2930841" y="3238351"/>
            <a:ext cx="3282169" cy="251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i="1" lang="en-US" sz="1820" u="none" cap="none" strike="noStrike">
                <a:solidFill>
                  <a:srgbClr val="8291A9"/>
                </a:solidFill>
              </a:rPr>
              <a:t>Two layers. Two purposes. </a:t>
            </a:r>
            <a:endParaRPr i="1" sz="1820" u="none" cap="none" strike="noStrike">
              <a:solidFill>
                <a:srgbClr val="8291A9"/>
              </a:solidFill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i="1" lang="en-US" sz="1820" u="none" cap="none" strike="noStrike">
                <a:solidFill>
                  <a:srgbClr val="8291A9"/>
                </a:solidFill>
              </a:rPr>
              <a:t>Both necessary.</a:t>
            </a:r>
            <a:endParaRPr i="1" sz="1820" u="none" cap="none" strike="noStrike">
              <a:solidFill>
                <a:srgbClr val="8291A9"/>
              </a:solidFill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3690375" y="1523725"/>
            <a:ext cx="1763100" cy="7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≠</a:t>
            </a:r>
            <a:r>
              <a:rPr b="1" i="0" lang="en-US" sz="4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4200" u="none" cap="none" strike="noStrike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Arial"/>
              <a:buNone/>
            </a:pPr>
            <a:r>
              <a:t/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612071" y="1282225"/>
            <a:ext cx="3220200" cy="1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Service Purpose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609600" y="609600"/>
            <a:ext cx="8083296" cy="469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359"/>
              <a:buFont typeface="Arial"/>
              <a:buNone/>
            </a:pPr>
            <a:r>
              <a:rPr b="1" i="0" lang="en-US" sz="335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Adding Service Discovery</a:t>
            </a:r>
            <a:endParaRPr b="0" i="0" sz="33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09600" y="1383655"/>
            <a:ext cx="8083296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Devices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keep personality names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609600" y="1886545"/>
            <a:ext cx="8083296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Services</a:t>
            </a: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map through Tailscale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609600" y="2389436"/>
            <a:ext cx="8083296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backup.homelab.ts.net • docker.homelab.</a:t>
            </a:r>
            <a:r>
              <a:rPr lang="en-US" sz="1800">
                <a:solidFill>
                  <a:srgbClr val="CBD5E1"/>
                </a:solidFill>
              </a:rPr>
              <a:t>ts.net</a:t>
            </a: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• auth.homelab.ts.net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609600" y="3120926"/>
            <a:ext cx="8083296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Personality at the device layer. Clarity at the service layer.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/>
          <p:nvPr/>
        </p:nvSpPr>
        <p:spPr>
          <a:xfrm>
            <a:off x="1812571" y="953183"/>
            <a:ext cx="5518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What Works For You?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404963" y="2610750"/>
            <a:ext cx="43341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38BDF8"/>
                </a:solidFill>
              </a:rPr>
              <a:t>Enterprise?</a:t>
            </a:r>
            <a:r>
              <a:rPr b="0" i="0" lang="en-US" sz="13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Perfect if you want structure and compliance.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2434869" y="3166921"/>
            <a:ext cx="42741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38BDF8"/>
                </a:solidFill>
              </a:rPr>
              <a:t>Creative? </a:t>
            </a:r>
            <a:r>
              <a:rPr b="0" i="0" lang="en-US" sz="13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Perfect if you want engagement and longevity.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3245550" y="3723100"/>
            <a:ext cx="26670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38BDF8"/>
                </a:solidFill>
              </a:rPr>
              <a:t>Hybrid?</a:t>
            </a:r>
            <a:r>
              <a:rPr b="0" i="0" lang="en-US" sz="13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 Perfect if you want both.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/>
          <p:nvPr/>
        </p:nvSpPr>
        <p:spPr>
          <a:xfrm>
            <a:off x="1923465" y="990749"/>
            <a:ext cx="5296921" cy="822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Best Option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496617" y="2270820"/>
            <a:ext cx="2150617" cy="2970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60"/>
              <a:buFont typeface="Arial"/>
              <a:buNone/>
            </a:pPr>
            <a:r>
              <a:rPr b="0" i="0" lang="en-US" sz="156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Is the one that's best for</a:t>
            </a:r>
            <a:endParaRPr b="0" i="0" sz="15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4178850" y="2690996"/>
            <a:ext cx="786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YOU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3730698" y="3367980"/>
            <a:ext cx="1682700" cy="2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i="1" lang="en-US" sz="1800">
                <a:solidFill>
                  <a:srgbClr val="CBD5E1"/>
                </a:solidFill>
              </a:rPr>
              <a:t>Questions?</a:t>
            </a:r>
            <a:endParaRPr i="1" sz="1800" u="none" cap="none" strike="noStrike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8bb9c9643_1_0"/>
          <p:cNvSpPr/>
          <p:nvPr/>
        </p:nvSpPr>
        <p:spPr>
          <a:xfrm>
            <a:off x="609600" y="609600"/>
            <a:ext cx="8083200" cy="4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32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359"/>
              <a:buFont typeface="Arial"/>
              <a:buNone/>
            </a:pPr>
            <a:r>
              <a:rPr b="1" i="0" lang="en-US" sz="3359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Sources &amp; Further Reading</a:t>
            </a:r>
            <a:endParaRPr b="0" i="0" sz="33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b8bb9c9643_1_0"/>
          <p:cNvSpPr txBox="1"/>
          <p:nvPr/>
        </p:nvSpPr>
        <p:spPr>
          <a:xfrm>
            <a:off x="539950" y="1268725"/>
            <a:ext cx="7876800" cy="3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</a:rPr>
              <a:t>Psychology of Ownership &amp; Engagement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</a:rPr>
              <a:t>Pierce, Kostova &amp; Dirks (2001). "Toward a theory of psychological ownership in organizations." </a:t>
            </a:r>
            <a:r>
              <a:rPr i="1" lang="en-US" sz="1200">
                <a:solidFill>
                  <a:srgbClr val="CBD5E1"/>
                </a:solidFill>
              </a:rPr>
              <a:t>Academy of Management Review</a:t>
            </a:r>
            <a:r>
              <a:rPr lang="en-US" sz="1200">
                <a:solidFill>
                  <a:srgbClr val="CBD5E1"/>
                </a:solidFill>
              </a:rPr>
              <a:t>.</a:t>
            </a:r>
            <a:endParaRPr sz="1200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</a:rPr>
              <a:t>Pink, D. H. (2009). </a:t>
            </a:r>
            <a:r>
              <a:rPr i="1" lang="en-US" sz="1200">
                <a:solidFill>
                  <a:srgbClr val="CBD5E1"/>
                </a:solidFill>
              </a:rPr>
              <a:t>Drive: The Surprising Truth About What Motivates Us</a:t>
            </a:r>
            <a:r>
              <a:rPr lang="en-US" sz="1200">
                <a:solidFill>
                  <a:srgbClr val="CBD5E1"/>
                </a:solidFill>
              </a:rPr>
              <a:t>. Riverhead Books.</a:t>
            </a:r>
            <a:endParaRPr sz="1200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200">
                <a:solidFill>
                  <a:srgbClr val="38BDF8"/>
                </a:solidFill>
              </a:rPr>
            </a:br>
            <a:r>
              <a:rPr b="1" lang="en-US" sz="1200">
                <a:solidFill>
                  <a:srgbClr val="38BDF8"/>
                </a:solidFill>
              </a:rPr>
              <a:t>Enterprise Standards &amp; Best Practices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</a:rPr>
              <a:t>RFC 952 - Requirements for Internet Hosts. ISO/IEC 11582 - Information Technology Standards.</a:t>
            </a:r>
            <a:endParaRPr sz="1200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8BDF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MOBS: Server Naming Convention Best Practices</a:t>
            </a:r>
            <a:endParaRPr sz="1200" u="sng">
              <a:solidFill>
                <a:srgbClr val="38BDF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8BDF8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UAA: Device Naming Conventions</a:t>
            </a:r>
            <a:endParaRPr sz="1200" u="sng">
              <a:solidFill>
                <a:srgbClr val="38BDF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1200">
                <a:solidFill>
                  <a:srgbClr val="38BDF8"/>
                </a:solidFill>
              </a:rPr>
            </a:br>
            <a:r>
              <a:rPr b="1" lang="en-US" sz="1200">
                <a:solidFill>
                  <a:srgbClr val="38BDF8"/>
                </a:solidFill>
              </a:rPr>
              <a:t>Homelab Resources &amp; Community</a:t>
            </a:r>
            <a:endParaRPr b="1" sz="1200">
              <a:solidFill>
                <a:srgbClr val="38BDF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</a:rPr>
              <a:t>Tailscale (https://tailscale.com/) • ServeTheHome forums</a:t>
            </a:r>
            <a:endParaRPr sz="1200">
              <a:solidFill>
                <a:srgbClr val="CBD5E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8BDF8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Homelab.gdn: "Naming Things is Hard"</a:t>
            </a:r>
            <a:endParaRPr sz="1200" u="sng">
              <a:solidFill>
                <a:srgbClr val="38BDF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u="sng">
                <a:solidFill>
                  <a:srgbClr val="38BDF8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r/homelab: Server Naming Scheme Discussion</a:t>
            </a:r>
            <a:endParaRPr sz="1200" u="sng">
              <a:solidFill>
                <a:srgbClr val="38BDF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2026-01-17T17:54:26Z</dcterms:created>
  <dc:creator>Perplexity</dc:creator>
</cp:coreProperties>
</file>